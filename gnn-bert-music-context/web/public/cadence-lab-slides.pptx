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Cadence Lab's course project for Neural Networks: GNN-based BERT for understanding context from music. The assignment is not to generate audio. It is to read a clip as structure plus language, then predict tags, genre, mood, and retrieval. Everything I will show was trained on official Free Music Archive small audio: five hundred eleven thirty-second clips, artist-disjoint splits. I will be honest about where the labels leak from metadata, because that is the actual finding, not a leaderboard claim. After the numbers I will point you to the lab, the saved graphs, and the seven-page IEEE report.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recording can be folk, acoustic, guitar-led, and built from a short chord loop at the same time. A spectrogram CNN hears local timbre. It does not see that bar three repeats bar one, or that A minor goes to C major. A language model on a caption hears a folk recording titled Arabesque by Ed Askew. It does not know when those words line up with a modulation. The brief therefore asks for a hybrid: BERT on text, a graph net on a structure graph from audio, a fusion stage, and a contrastive retriever. Five beats in this talk: why, representation, the four models, held-out numbers, then what those numbers actually mean.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Task one is easy on paper: a BERT tag classifier on captions, twenty-four MagnaTagATune-style labels, binary cross-entropy. Task two is the graph: GraphSAGE, and GAT, on a segment-similarity graph and a chord-transition graph, against a CNN mel baseline. Task three fuses the graph readout with token states, concat versus cross-attention, plus valence and arousal heads. Task four is a dual encoder with InfoNCE. We also ship majority and random tag baselines so the table is complete.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Audio is a one-twenty-eight-bin log-mel at twenty-two thousand fifty Hertz, hop five twelve, plus chroma, MFCCs, RMS, centroid, and zero-crossing rate, all z-scored per clip. Text is a whitespace-tokenized caption of at most forty-eight tokens with CLS and SEP. G is either a thirty-node segment graph or a chord-transition graph. Labels y are twenty-four binary tags, eight-way genre, and valence-arousal in zero to one. Jazz and metal heads exist in the classifier but FMA-small has no such top genres, so those rows stay empty.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fetched FMA metadata and FMA-small from the official SWITCH mirror and SHA1-checked both zips. Seed forty-two, sixty-four clips from each of eight top genres. One mp3 failed to decode, leaving five hundred eleven tracks from three hundred eighty-six artists. Splits are artist-disjoint: three hundred twenty-seven, ninety-four, ninety. After mapping, folk and electronic have one hundred twenty-eight clips each; hip-hop has sixty-three. Experimental maps to electronic, instrumental to classical, international to folk. Captions are templates from title, artist, album, and leaf genres. MusicCaps CSV is on disk without YouTube audio. DEAM is gated, so valence and arousal are genre priors. Tags are keyword-mapped from those captions. That last fact will explain BERT's F1.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segment graph has thirty windows of one second. Each node concatenates mean and standard deviation of the audio streams: three hundred twelve dimensions. Adjacent windows get a temporal edge. If chroma concatenated with MFCC cosine exceeds tau 0.62, we add a similarity edge. That is a self-similarity matrix with a backbone. The chord graph matches frames to twenty-four major and minor triad templates, collapses runs, and weights edges by transition counts. Average size here is eight point three nodes. Neither graph is a musicological parse. Both give Task 2 a well-defined G. We save twenty-four example tensors for the lab.</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TinyBERT is a two-layer pre-norm Transformer, hidden sixty-four, four heads. We train from scratch because five hundred eleven clips will not pretrain bert-base-uncased. The interface still matches HuggingFace CLS, so a real checkpoint can swap in later. GraphSAGE is two dense layers with mean pooling. GAT is implemented with two heads and an adjacency mask. The control is a three-block CNN on sixty-four by thirty-two log-mel. Same tag and genre heads. If the graph is doing extra work, GraphSAGE should beat the CNN. On eight-way genre, the CNN is slightly ahead: 0.489 versus 0.422.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Fusion treats the graph vector as a query against caption keys and values, then an MLP on the concatenation. Early concat just stacks g with CLS. Three heads: tags, valence, arousal. Emotion loss weights alpha and beta are 0.35. BERT is warm-started from Task 1. Concat is the workhorse; cross-attention is the harder variant in the brief. Task 4 projects both towers onto a sixty-four-d sphere and trains symmetric InfoNCE at temperature 0.07. We score recall at one, five, and ten on the ninety pairs. Chance R at 5 is five over ninety, about 0.056.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Random tags: zero macro-F1. Majority: 0.118. CNN: 0.255. GNN: 0.264. BERT-only: 0.772. Concat fusion: 0.783, the best tagger, with AUC-PR 0.868. Cross-attention: 0.779, with a slightly better emotion MAE, 0.037 versus 0.039. Genre: CNN 0.489, GNN 0.422. Caption to audio R at 5 is 0.078, barely above chance 0.056. R at 1 is zero. Rank-1 is often a same-template neighbor, not the paired track. Look at the gap between the text tower and the audio tower. That gap is the result.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BERT so strong? Because the twenty-four tags were extracted from the same metadata that forms the caption. Task 1 is closer to decoding a template than to open-vocabulary MusicCaps tagging. Fusion copies those tags almost exactly. That is expected, not impressive. Audio-only models at about 0.26 F1 are the honest FMA number at this capacity. Emotion MAE looks tiny because the targets are genre priors that both the caption and the graph can recover. It is not a DEAM human-rating result. Retrieval stays near chance because captions share the same bag of tokens. Two substitutions would change the table without touching the code: independent MusicCaps captions, and DEAM listener ratings. We report the FMA run as-is instead of simulating them.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held-out clips from the lab. Arabesque, folk, Ed Askew: fusion tags match, genre folk to folk. Heartbreaker, experimental electronic: the GNN predicts folk. A hip-hop edit by Laws: the GNN again predicts folk. Folk is the largest mapped class, one hundred twenty-eight clips, and short acoustic chroma is a convenient attractor. Thirty-second graphs at width sixty-four do not solve FMA-small genre. Retrieval also dies when two captions differ only in a title token that TinyBERT treats as unknown after the forty-eight-token cut.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implemented the full four-task pipeline on official FMA-small audio, with majority, CNN, BERT, and GNN baselines, concat versus cross-attention, retrieval, a seven-page IEEE report, twenty-four saved graphs, and the lab you can open after this talk. Concat fusion is the best tagger on metadata-derived labels. Audio-only models show the real difficulty. Retrieval needs unique captions. The remaining upgrade is MusicCaps audio and DEAM ratings, not a bigger Transformer on the same leaked tags. Live inference in the lab synthesizes an eight-second clip so the forward pass is visible without redistributing FMA mp3s.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COURSE PRESENTATION</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3400" b="1">
                <a:solidFill>
                  <a:srgbClr val="EFE6D6"/>
                </a:solidFill>
                <a:latin typeface="Georgia"/>
                <a:ea typeface="Georgia"/>
                <a:cs typeface="Georgia"/>
              </a:rPr>
              <a:t>GNN-Based BERT for Understanding Context from Music</a:t>
            </a:r>
          </a:p>
        </p:txBody>
      </p:sp>
      <p:sp>
        <p:nvSpPr>
          <p:cNvPr id="6" name="TextBox 5"/>
          <p:cNvSpPr txBox="1"/>
          <p:nvPr/>
        </p:nvSpPr>
        <p:spPr>
          <a:xfrm>
            <a:off x="640080" y="2011680"/>
            <a:ext cx="10972800" cy="4297680"/>
          </a:xfrm>
          <a:prstGeom prst="rect">
            <a:avLst/>
          </a:prstGeom>
          <a:noFill/>
        </p:spPr>
        <p:txBody>
          <a:bodyPr wrap="square">
            <a:spAutoFit/>
          </a:bodyPr>
          <a:lstStyle/>
          <a:p>
            <a:pPr>
              <a:spcAft>
                <a:spcPts val="1600"/>
              </a:spcAft>
            </a:pPr>
            <a:r>
              <a:rPr sz="2200" b="0">
                <a:solidFill>
                  <a:srgbClr val="EFE6D6"/>
                </a:solidFill>
                <a:latin typeface="Calibri"/>
                <a:ea typeface="Calibri"/>
                <a:cs typeface="Calibri"/>
              </a:rPr>
              <a:t>▸  Understanding, not generation</a:t>
            </a:r>
          </a:p>
          <a:p>
            <a:pPr>
              <a:spcAft>
                <a:spcPts val="1600"/>
              </a:spcAft>
            </a:pPr>
            <a:r>
              <a:rPr sz="2200" b="0">
                <a:solidFill>
                  <a:srgbClr val="EFE6D6"/>
                </a:solidFill>
                <a:latin typeface="Calibri"/>
                <a:ea typeface="Calibri"/>
                <a:cs typeface="Calibri"/>
              </a:rPr>
              <a:t>▸  Official FMA-small subset · 511 clips · 386 artists</a:t>
            </a:r>
          </a:p>
          <a:p>
            <a:pPr>
              <a:spcAft>
                <a:spcPts val="1600"/>
              </a:spcAft>
            </a:pPr>
            <a:r>
              <a:rPr sz="2200" b="0">
                <a:solidFill>
                  <a:srgbClr val="EFE6D6"/>
                </a:solidFill>
                <a:latin typeface="Calibri"/>
                <a:ea typeface="Calibri"/>
                <a:cs typeface="Calibri"/>
              </a:rPr>
              <a:t>▸  Four tasks: BERT tags, GraphSAGE, fusion, InfoNCE</a:t>
            </a:r>
          </a:p>
        </p:txBody>
      </p:sp>
      <p:sp>
        <p:nvSpPr>
          <p:cNvPr id="7" name="TextBox 6"/>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 · CSE425 / EEE474 / CSE715 · September 2026</a:t>
            </a:r>
          </a:p>
        </p:txBody>
      </p:sp>
      <p:sp>
        <p:nvSpPr>
          <p:cNvPr id="8" name="TextBox 7"/>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MOTIVATION</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A clip is harmonic, timbral, and linguistic at once</a:t>
            </a:r>
          </a:p>
        </p:txBody>
      </p:sp>
      <p:sp>
        <p:nvSpPr>
          <p:cNvPr id="6" name="Rounded Rectangle 5"/>
          <p:cNvSpPr/>
          <p:nvPr/>
        </p:nvSpPr>
        <p:spPr>
          <a:xfrm>
            <a:off x="50292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CNN on log-mel</a:t>
            </a:r>
          </a:p>
        </p:txBody>
      </p:sp>
      <p:sp>
        <p:nvSpPr>
          <p:cNvPr id="8" name="TextBox 7"/>
          <p:cNvSpPr txBox="1"/>
          <p:nvPr/>
        </p:nvSpPr>
        <p:spPr>
          <a:xfrm>
            <a:off x="70408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Local timbre and transients</a:t>
            </a:r>
          </a:p>
          <a:p>
            <a:pPr>
              <a:spcAft>
                <a:spcPts val="800"/>
              </a:spcAft>
            </a:pPr>
            <a:r>
              <a:rPr sz="1500" b="0">
                <a:solidFill>
                  <a:srgbClr val="EFE6D6"/>
                </a:solidFill>
                <a:latin typeface="Calibri"/>
                <a:ea typeface="Calibri"/>
                <a:cs typeface="Calibri"/>
              </a:rPr>
              <a:t>•  Blind to chord loops</a:t>
            </a:r>
          </a:p>
          <a:p>
            <a:pPr>
              <a:spcAft>
                <a:spcPts val="800"/>
              </a:spcAft>
            </a:pPr>
            <a:r>
              <a:rPr sz="1500" b="0">
                <a:solidFill>
                  <a:srgbClr val="EFE6D6"/>
                </a:solidFill>
                <a:latin typeface="Calibri"/>
                <a:ea typeface="Calibri"/>
                <a:cs typeface="Calibri"/>
              </a:rPr>
              <a:t>•  Blind to repeated segments</a:t>
            </a:r>
          </a:p>
        </p:txBody>
      </p:sp>
      <p:sp>
        <p:nvSpPr>
          <p:cNvPr id="9" name="Rounded Rectangle 8"/>
          <p:cNvSpPr/>
          <p:nvPr/>
        </p:nvSpPr>
        <p:spPr>
          <a:xfrm>
            <a:off x="429768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LM on captions</a:t>
            </a:r>
          </a:p>
        </p:txBody>
      </p:sp>
      <p:sp>
        <p:nvSpPr>
          <p:cNvPr id="11" name="TextBox 10"/>
          <p:cNvSpPr txBox="1"/>
          <p:nvPr/>
        </p:nvSpPr>
        <p:spPr>
          <a:xfrm>
            <a:off x="449884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Instruments, genre, mood words</a:t>
            </a:r>
          </a:p>
          <a:p>
            <a:pPr>
              <a:spcAft>
                <a:spcPts val="800"/>
              </a:spcAft>
            </a:pPr>
            <a:r>
              <a:rPr sz="1500" b="0">
                <a:solidFill>
                  <a:srgbClr val="EFE6D6"/>
                </a:solidFill>
                <a:latin typeface="Calibri"/>
                <a:ea typeface="Calibri"/>
                <a:cs typeface="Calibri"/>
              </a:rPr>
              <a:t>•  No alignment to time</a:t>
            </a:r>
          </a:p>
          <a:p>
            <a:pPr>
              <a:spcAft>
                <a:spcPts val="800"/>
              </a:spcAft>
            </a:pPr>
            <a:r>
              <a:rPr sz="1500" b="0">
                <a:solidFill>
                  <a:srgbClr val="EFE6D6"/>
                </a:solidFill>
                <a:latin typeface="Calibri"/>
                <a:ea typeface="Calibri"/>
                <a:cs typeface="Calibri"/>
              </a:rPr>
              <a:t>•  Cannot hear a drop</a:t>
            </a:r>
          </a:p>
        </p:txBody>
      </p:sp>
      <p:sp>
        <p:nvSpPr>
          <p:cNvPr id="12" name="Rounded Rectangle 11"/>
          <p:cNvSpPr/>
          <p:nvPr/>
        </p:nvSpPr>
        <p:spPr>
          <a:xfrm>
            <a:off x="809244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This project</a:t>
            </a:r>
          </a:p>
        </p:txBody>
      </p:sp>
      <p:sp>
        <p:nvSpPr>
          <p:cNvPr id="14" name="TextBox 13"/>
          <p:cNvSpPr txBox="1"/>
          <p:nvPr/>
        </p:nvSpPr>
        <p:spPr>
          <a:xfrm>
            <a:off x="829360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Graph G from the spectrogram</a:t>
            </a:r>
          </a:p>
          <a:p>
            <a:pPr>
              <a:spcAft>
                <a:spcPts val="800"/>
              </a:spcAft>
            </a:pPr>
            <a:r>
              <a:rPr sz="1500" b="0">
                <a:solidFill>
                  <a:srgbClr val="EFE6D6"/>
                </a:solidFill>
                <a:latin typeface="Calibri"/>
                <a:ea typeface="Calibri"/>
                <a:cs typeface="Calibri"/>
              </a:rPr>
              <a:t>•  TinyBERT on the caption</a:t>
            </a:r>
          </a:p>
          <a:p>
            <a:pPr>
              <a:spcAft>
                <a:spcPts val="800"/>
              </a:spcAft>
            </a:pPr>
            <a:r>
              <a:rPr sz="1500" b="0">
                <a:solidFill>
                  <a:srgbClr val="EFE6D6"/>
                </a:solidFill>
                <a:latin typeface="Calibri"/>
                <a:ea typeface="Calibri"/>
                <a:cs typeface="Calibri"/>
              </a:rPr>
              <a:t>•  Fuse, then retrieve</a:t>
            </a:r>
          </a:p>
        </p:txBody>
      </p:sp>
      <p:sp>
        <p:nvSpPr>
          <p:cNvPr id="15" name="TextBox 14"/>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16" name="TextBox 15"/>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ASSIGNMENT</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Four tasks, one pipeline</a:t>
            </a:r>
          </a:p>
        </p:txBody>
      </p:sp>
      <p:sp>
        <p:nvSpPr>
          <p:cNvPr id="6" name="Rounded Rectangle 5"/>
          <p:cNvSpPr/>
          <p:nvPr/>
        </p:nvSpPr>
        <p:spPr>
          <a:xfrm>
            <a:off x="502920" y="1965960"/>
            <a:ext cx="264490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130552"/>
            <a:ext cx="2279142" cy="457200"/>
          </a:xfrm>
          <a:prstGeom prst="rect">
            <a:avLst/>
          </a:prstGeom>
          <a:noFill/>
        </p:spPr>
        <p:txBody>
          <a:bodyPr wrap="square">
            <a:spAutoFit/>
          </a:bodyPr>
          <a:lstStyle/>
          <a:p>
            <a:pPr algn="l"/>
            <a:r>
              <a:rPr sz="1600" b="1">
                <a:solidFill>
                  <a:srgbClr val="C45C26"/>
                </a:solidFill>
                <a:latin typeface="Georgia"/>
                <a:ea typeface="Georgia"/>
                <a:cs typeface="Georgia"/>
              </a:rPr>
              <a:t>1  BERT tags</a:t>
            </a:r>
          </a:p>
        </p:txBody>
      </p:sp>
      <p:sp>
        <p:nvSpPr>
          <p:cNvPr id="8" name="TextBox 7"/>
          <p:cNvSpPr txBox="1"/>
          <p:nvPr/>
        </p:nvSpPr>
        <p:spPr>
          <a:xfrm>
            <a:off x="704088" y="2624328"/>
            <a:ext cx="227914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TinyBERT CLS</a:t>
            </a:r>
          </a:p>
          <a:p>
            <a:pPr>
              <a:spcAft>
                <a:spcPts val="800"/>
              </a:spcAft>
            </a:pPr>
            <a:r>
              <a:rPr sz="1500" b="0">
                <a:solidFill>
                  <a:srgbClr val="EFE6D6"/>
                </a:solidFill>
                <a:latin typeface="Calibri"/>
                <a:ea typeface="Calibri"/>
                <a:cs typeface="Calibri"/>
              </a:rPr>
              <a:t>•  24-way BCE</a:t>
            </a:r>
          </a:p>
          <a:p>
            <a:pPr>
              <a:spcAft>
                <a:spcPts val="800"/>
              </a:spcAft>
            </a:pPr>
            <a:r>
              <a:rPr sz="1500" b="0">
                <a:solidFill>
                  <a:srgbClr val="EFE6D6"/>
                </a:solidFill>
                <a:latin typeface="Calibri"/>
                <a:ea typeface="Calibri"/>
                <a:cs typeface="Calibri"/>
              </a:rPr>
              <a:t>•  Swap-in for bert-base</a:t>
            </a:r>
          </a:p>
        </p:txBody>
      </p:sp>
      <p:sp>
        <p:nvSpPr>
          <p:cNvPr id="9" name="Rounded Rectangle 8"/>
          <p:cNvSpPr/>
          <p:nvPr/>
        </p:nvSpPr>
        <p:spPr>
          <a:xfrm>
            <a:off x="3348990" y="1965960"/>
            <a:ext cx="264490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0158" y="2130552"/>
            <a:ext cx="2279142" cy="457200"/>
          </a:xfrm>
          <a:prstGeom prst="rect">
            <a:avLst/>
          </a:prstGeom>
          <a:noFill/>
        </p:spPr>
        <p:txBody>
          <a:bodyPr wrap="square">
            <a:spAutoFit/>
          </a:bodyPr>
          <a:lstStyle/>
          <a:p>
            <a:pPr algn="l"/>
            <a:r>
              <a:rPr sz="1600" b="1">
                <a:solidFill>
                  <a:srgbClr val="C45C26"/>
                </a:solidFill>
                <a:latin typeface="Georgia"/>
                <a:ea typeface="Georgia"/>
                <a:cs typeface="Georgia"/>
              </a:rPr>
              <a:t>2  Graphs</a:t>
            </a:r>
          </a:p>
        </p:txBody>
      </p:sp>
      <p:sp>
        <p:nvSpPr>
          <p:cNvPr id="11" name="TextBox 10"/>
          <p:cNvSpPr txBox="1"/>
          <p:nvPr/>
        </p:nvSpPr>
        <p:spPr>
          <a:xfrm>
            <a:off x="3550158" y="2624328"/>
            <a:ext cx="227914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GraphSAGE / GAT</a:t>
            </a:r>
          </a:p>
          <a:p>
            <a:pPr>
              <a:spcAft>
                <a:spcPts val="800"/>
              </a:spcAft>
            </a:pPr>
            <a:r>
              <a:rPr sz="1500" b="0">
                <a:solidFill>
                  <a:srgbClr val="EFE6D6"/>
                </a:solidFill>
                <a:latin typeface="Calibri"/>
                <a:ea typeface="Calibri"/>
                <a:cs typeface="Calibri"/>
              </a:rPr>
              <a:t>•  Segment + chord G</a:t>
            </a:r>
          </a:p>
          <a:p>
            <a:pPr>
              <a:spcAft>
                <a:spcPts val="800"/>
              </a:spcAft>
            </a:pPr>
            <a:r>
              <a:rPr sz="1500" b="0">
                <a:solidFill>
                  <a:srgbClr val="EFE6D6"/>
                </a:solidFill>
                <a:latin typeface="Calibri"/>
                <a:ea typeface="Calibri"/>
                <a:cs typeface="Calibri"/>
              </a:rPr>
              <a:t>•  CNN control</a:t>
            </a:r>
          </a:p>
        </p:txBody>
      </p:sp>
      <p:sp>
        <p:nvSpPr>
          <p:cNvPr id="12" name="Rounded Rectangle 11"/>
          <p:cNvSpPr/>
          <p:nvPr/>
        </p:nvSpPr>
        <p:spPr>
          <a:xfrm>
            <a:off x="6195060" y="1965960"/>
            <a:ext cx="264490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96228" y="2130552"/>
            <a:ext cx="2279142" cy="457200"/>
          </a:xfrm>
          <a:prstGeom prst="rect">
            <a:avLst/>
          </a:prstGeom>
          <a:noFill/>
        </p:spPr>
        <p:txBody>
          <a:bodyPr wrap="square">
            <a:spAutoFit/>
          </a:bodyPr>
          <a:lstStyle/>
          <a:p>
            <a:pPr algn="l"/>
            <a:r>
              <a:rPr sz="1600" b="1">
                <a:solidFill>
                  <a:srgbClr val="C45C26"/>
                </a:solidFill>
                <a:latin typeface="Georgia"/>
                <a:ea typeface="Georgia"/>
                <a:cs typeface="Georgia"/>
              </a:rPr>
              <a:t>3  Fusion</a:t>
            </a:r>
          </a:p>
        </p:txBody>
      </p:sp>
      <p:sp>
        <p:nvSpPr>
          <p:cNvPr id="14" name="TextBox 13"/>
          <p:cNvSpPr txBox="1"/>
          <p:nvPr/>
        </p:nvSpPr>
        <p:spPr>
          <a:xfrm>
            <a:off x="6396228" y="2624328"/>
            <a:ext cx="227914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Concat vs cross-attn</a:t>
            </a:r>
          </a:p>
          <a:p>
            <a:pPr>
              <a:spcAft>
                <a:spcPts val="800"/>
              </a:spcAft>
            </a:pPr>
            <a:r>
              <a:rPr sz="1500" b="0">
                <a:solidFill>
                  <a:srgbClr val="EFE6D6"/>
                </a:solidFill>
                <a:latin typeface="Calibri"/>
                <a:ea typeface="Calibri"/>
                <a:cs typeface="Calibri"/>
              </a:rPr>
              <a:t>•  Tag + VA heads</a:t>
            </a:r>
          </a:p>
          <a:p>
            <a:pPr>
              <a:spcAft>
                <a:spcPts val="800"/>
              </a:spcAft>
            </a:pPr>
            <a:r>
              <a:rPr sz="1500" b="0">
                <a:solidFill>
                  <a:srgbClr val="EFE6D6"/>
                </a:solidFill>
                <a:latin typeface="Calibri"/>
                <a:ea typeface="Calibri"/>
                <a:cs typeface="Calibri"/>
              </a:rPr>
              <a:t>•  Warm-start BERT</a:t>
            </a:r>
          </a:p>
        </p:txBody>
      </p:sp>
      <p:sp>
        <p:nvSpPr>
          <p:cNvPr id="15" name="Rounded Rectangle 14"/>
          <p:cNvSpPr/>
          <p:nvPr/>
        </p:nvSpPr>
        <p:spPr>
          <a:xfrm>
            <a:off x="9041130" y="1965960"/>
            <a:ext cx="264490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42298" y="2130552"/>
            <a:ext cx="2279142" cy="457200"/>
          </a:xfrm>
          <a:prstGeom prst="rect">
            <a:avLst/>
          </a:prstGeom>
          <a:noFill/>
        </p:spPr>
        <p:txBody>
          <a:bodyPr wrap="square">
            <a:spAutoFit/>
          </a:bodyPr>
          <a:lstStyle/>
          <a:p>
            <a:pPr algn="l"/>
            <a:r>
              <a:rPr sz="1600" b="1">
                <a:solidFill>
                  <a:srgbClr val="C45C26"/>
                </a:solidFill>
                <a:latin typeface="Georgia"/>
                <a:ea typeface="Georgia"/>
                <a:cs typeface="Georgia"/>
              </a:rPr>
              <a:t>4  Retrieval</a:t>
            </a:r>
          </a:p>
        </p:txBody>
      </p:sp>
      <p:sp>
        <p:nvSpPr>
          <p:cNvPr id="17" name="TextBox 16"/>
          <p:cNvSpPr txBox="1"/>
          <p:nvPr/>
        </p:nvSpPr>
        <p:spPr>
          <a:xfrm>
            <a:off x="9242298" y="2624328"/>
            <a:ext cx="227914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Two towers</a:t>
            </a:r>
          </a:p>
          <a:p>
            <a:pPr>
              <a:spcAft>
                <a:spcPts val="800"/>
              </a:spcAft>
            </a:pPr>
            <a:r>
              <a:rPr sz="1500" b="0">
                <a:solidFill>
                  <a:srgbClr val="EFE6D6"/>
                </a:solidFill>
                <a:latin typeface="Calibri"/>
                <a:ea typeface="Calibri"/>
                <a:cs typeface="Calibri"/>
              </a:rPr>
              <a:t>•  InfoNCE tau = 0.07</a:t>
            </a:r>
          </a:p>
          <a:p>
            <a:pPr>
              <a:spcAft>
                <a:spcPts val="800"/>
              </a:spcAft>
            </a:pPr>
            <a:r>
              <a:rPr sz="1500" b="0">
                <a:solidFill>
                  <a:srgbClr val="EFE6D6"/>
                </a:solidFill>
                <a:latin typeface="Calibri"/>
                <a:ea typeface="Calibri"/>
                <a:cs typeface="Calibri"/>
              </a:rPr>
              <a:t>•  R@1 / 5 / 10</a:t>
            </a:r>
          </a:p>
        </p:txBody>
      </p:sp>
      <p:sp>
        <p:nvSpPr>
          <p:cNvPr id="18" name="TextBox 17"/>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19" name="TextBox 18"/>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REPRESENTATION</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A track is the tuple T = (audio, text, G, y)</a:t>
            </a:r>
          </a:p>
        </p:txBody>
      </p:sp>
      <p:sp>
        <p:nvSpPr>
          <p:cNvPr id="6" name="TextBox 5"/>
          <p:cNvSpPr txBox="1"/>
          <p:nvPr/>
        </p:nvSpPr>
        <p:spPr>
          <a:xfrm>
            <a:off x="640080" y="2011680"/>
            <a:ext cx="10972800" cy="4297680"/>
          </a:xfrm>
          <a:prstGeom prst="rect">
            <a:avLst/>
          </a:prstGeom>
          <a:noFill/>
        </p:spPr>
        <p:txBody>
          <a:bodyPr wrap="square">
            <a:spAutoFit/>
          </a:bodyPr>
          <a:lstStyle/>
          <a:p>
            <a:pPr>
              <a:spcAft>
                <a:spcPts val="1600"/>
              </a:spcAft>
            </a:pPr>
            <a:r>
              <a:rPr sz="2200" b="0">
                <a:solidFill>
                  <a:srgbClr val="EFE6D6"/>
                </a:solidFill>
                <a:latin typeface="Calibri"/>
                <a:ea typeface="Calibri"/>
                <a:cs typeface="Calibri"/>
              </a:rPr>
              <a:t>▸  X_audio: log-mel 128, chroma 12, MFCC 13, RMS, centroid, ZCR</a:t>
            </a:r>
          </a:p>
          <a:p>
            <a:pPr>
              <a:spcAft>
                <a:spcPts val="1600"/>
              </a:spcAft>
            </a:pPr>
            <a:r>
              <a:rPr sz="2200" b="0">
                <a:solidFill>
                  <a:srgbClr val="EFE6D6"/>
                </a:solidFill>
                <a:latin typeface="Calibri"/>
                <a:ea typeface="Calibri"/>
                <a:cs typeface="Calibri"/>
              </a:rPr>
              <a:t>▸  X_text: at most 48 tokens, vocabulary rebuilt from FMA captions</a:t>
            </a:r>
          </a:p>
          <a:p>
            <a:pPr>
              <a:spcAft>
                <a:spcPts val="1600"/>
              </a:spcAft>
            </a:pPr>
            <a:r>
              <a:rPr sz="2200" b="0">
                <a:solidFill>
                  <a:srgbClr val="EFE6D6"/>
                </a:solidFill>
                <a:latin typeface="Calibri"/>
                <a:ea typeface="Calibri"/>
                <a:cs typeface="Calibri"/>
              </a:rPr>
              <a:t>▸  G: 30-node segment graph or ~8-node chord graph</a:t>
            </a:r>
          </a:p>
          <a:p>
            <a:pPr>
              <a:spcAft>
                <a:spcPts val="1600"/>
              </a:spcAft>
            </a:pPr>
            <a:r>
              <a:rPr sz="2200" b="0">
                <a:solidFill>
                  <a:srgbClr val="EFE6D6"/>
                </a:solidFill>
                <a:latin typeface="Calibri"/>
                <a:ea typeface="Calibri"/>
                <a:cs typeface="Calibri"/>
              </a:rPr>
              <a:t>▸  y: 24 tags, 8 genres, valence / arousal in [0, 1]</a:t>
            </a:r>
          </a:p>
        </p:txBody>
      </p:sp>
      <p:sp>
        <p:nvSpPr>
          <p:cNvPr id="7" name="TextBox 6"/>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8" name="TextBox 7"/>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CORPUS</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Official FMA-small, not a synthetic stand-in</a:t>
            </a:r>
          </a:p>
        </p:txBody>
      </p:sp>
      <p:sp>
        <p:nvSpPr>
          <p:cNvPr id="6" name="Rounded Rectangle 5"/>
          <p:cNvSpPr/>
          <p:nvPr/>
        </p:nvSpPr>
        <p:spPr>
          <a:xfrm>
            <a:off x="50292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CLIPS</a:t>
            </a:r>
          </a:p>
        </p:txBody>
      </p:sp>
      <p:sp>
        <p:nvSpPr>
          <p:cNvPr id="8" name="TextBox 7"/>
          <p:cNvSpPr txBox="1"/>
          <p:nvPr/>
        </p:nvSpPr>
        <p:spPr>
          <a:xfrm>
            <a:off x="66751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511</a:t>
            </a:r>
          </a:p>
        </p:txBody>
      </p:sp>
      <p:sp>
        <p:nvSpPr>
          <p:cNvPr id="9" name="TextBox 8"/>
          <p:cNvSpPr txBox="1"/>
          <p:nvPr/>
        </p:nvSpPr>
        <p:spPr>
          <a:xfrm>
            <a:off x="66751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30 s  |  22 050 Hz</a:t>
            </a:r>
          </a:p>
        </p:txBody>
      </p:sp>
      <p:sp>
        <p:nvSpPr>
          <p:cNvPr id="10" name="Rounded Rectangle 9"/>
          <p:cNvSpPr/>
          <p:nvPr/>
        </p:nvSpPr>
        <p:spPr>
          <a:xfrm>
            <a:off x="334899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358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ARTISTS</a:t>
            </a:r>
          </a:p>
        </p:txBody>
      </p:sp>
      <p:sp>
        <p:nvSpPr>
          <p:cNvPr id="12" name="TextBox 11"/>
          <p:cNvSpPr txBox="1"/>
          <p:nvPr/>
        </p:nvSpPr>
        <p:spPr>
          <a:xfrm>
            <a:off x="351358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386</a:t>
            </a:r>
          </a:p>
        </p:txBody>
      </p:sp>
      <p:sp>
        <p:nvSpPr>
          <p:cNvPr id="13" name="TextBox 12"/>
          <p:cNvSpPr txBox="1"/>
          <p:nvPr/>
        </p:nvSpPr>
        <p:spPr>
          <a:xfrm>
            <a:off x="351358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no artist in two splits</a:t>
            </a:r>
          </a:p>
        </p:txBody>
      </p:sp>
      <p:sp>
        <p:nvSpPr>
          <p:cNvPr id="14" name="Rounded Rectangle 13"/>
          <p:cNvSpPr/>
          <p:nvPr/>
        </p:nvSpPr>
        <p:spPr>
          <a:xfrm>
            <a:off x="619506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TEST</a:t>
            </a:r>
          </a:p>
        </p:txBody>
      </p:sp>
      <p:sp>
        <p:nvSpPr>
          <p:cNvPr id="16" name="TextBox 15"/>
          <p:cNvSpPr txBox="1"/>
          <p:nvPr/>
        </p:nvSpPr>
        <p:spPr>
          <a:xfrm>
            <a:off x="635965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90</a:t>
            </a:r>
          </a:p>
        </p:txBody>
      </p:sp>
      <p:sp>
        <p:nvSpPr>
          <p:cNvPr id="17" name="TextBox 16"/>
          <p:cNvSpPr txBox="1"/>
          <p:nvPr/>
        </p:nvSpPr>
        <p:spPr>
          <a:xfrm>
            <a:off x="635965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held-out tracks</a:t>
            </a:r>
          </a:p>
        </p:txBody>
      </p:sp>
      <p:sp>
        <p:nvSpPr>
          <p:cNvPr id="18" name="Rounded Rectangle 17"/>
          <p:cNvSpPr/>
          <p:nvPr/>
        </p:nvSpPr>
        <p:spPr>
          <a:xfrm>
            <a:off x="904113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572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TAGS / CLIP</a:t>
            </a:r>
          </a:p>
        </p:txBody>
      </p:sp>
      <p:sp>
        <p:nvSpPr>
          <p:cNvPr id="20" name="TextBox 19"/>
          <p:cNvSpPr txBox="1"/>
          <p:nvPr/>
        </p:nvSpPr>
        <p:spPr>
          <a:xfrm>
            <a:off x="920572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6.24</a:t>
            </a:r>
          </a:p>
        </p:txBody>
      </p:sp>
      <p:sp>
        <p:nvSpPr>
          <p:cNvPr id="21" name="TextBox 20"/>
          <p:cNvSpPr txBox="1"/>
          <p:nvPr/>
        </p:nvSpPr>
        <p:spPr>
          <a:xfrm>
            <a:off x="920572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metadata-mapped</a:t>
            </a:r>
          </a:p>
        </p:txBody>
      </p:sp>
      <p:sp>
        <p:nvSpPr>
          <p:cNvPr id="22" name="TextBox 21"/>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MusicCaps audio and DEAM ratings are not on disk. Jazz / metal top-genres are unused.</a:t>
            </a:r>
          </a:p>
        </p:txBody>
      </p:sp>
      <p:sp>
        <p:nvSpPr>
          <p:cNvPr id="23" name="TextBox 22"/>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TASK 2</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Two graphs, both deterministic functions of the spectrogram</a:t>
            </a:r>
          </a:p>
        </p:txBody>
      </p:sp>
      <p:sp>
        <p:nvSpPr>
          <p:cNvPr id="6" name="Rounded Rectangle 5"/>
          <p:cNvSpPr/>
          <p:nvPr/>
        </p:nvSpPr>
        <p:spPr>
          <a:xfrm>
            <a:off x="502920" y="1965960"/>
            <a:ext cx="549097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130552"/>
            <a:ext cx="5125212" cy="457200"/>
          </a:xfrm>
          <a:prstGeom prst="rect">
            <a:avLst/>
          </a:prstGeom>
          <a:noFill/>
        </p:spPr>
        <p:txBody>
          <a:bodyPr wrap="square">
            <a:spAutoFit/>
          </a:bodyPr>
          <a:lstStyle/>
          <a:p>
            <a:pPr algn="l"/>
            <a:r>
              <a:rPr sz="1600" b="1">
                <a:solidFill>
                  <a:srgbClr val="C45C26"/>
                </a:solidFill>
                <a:latin typeface="Georgia"/>
                <a:ea typeface="Georgia"/>
                <a:cs typeface="Georgia"/>
              </a:rPr>
              <a:t>Segment graph</a:t>
            </a:r>
          </a:p>
        </p:txBody>
      </p:sp>
      <p:sp>
        <p:nvSpPr>
          <p:cNvPr id="8" name="TextBox 7"/>
          <p:cNvSpPr txBox="1"/>
          <p:nvPr/>
        </p:nvSpPr>
        <p:spPr>
          <a:xfrm>
            <a:off x="704088" y="2624328"/>
            <a:ext cx="512521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N = 30, 1 s windows</a:t>
            </a:r>
          </a:p>
          <a:p>
            <a:pPr>
              <a:spcAft>
                <a:spcPts val="800"/>
              </a:spcAft>
            </a:pPr>
            <a:r>
              <a:rPr sz="1500" b="0">
                <a:solidFill>
                  <a:srgbClr val="EFE6D6"/>
                </a:solidFill>
                <a:latin typeface="Calibri"/>
                <a:ea typeface="Calibri"/>
                <a:cs typeface="Calibri"/>
              </a:rPr>
              <a:t>•  Node dim 312</a:t>
            </a:r>
          </a:p>
          <a:p>
            <a:pPr>
              <a:spcAft>
                <a:spcPts val="800"/>
              </a:spcAft>
            </a:pPr>
            <a:r>
              <a:rPr sz="1500" b="0">
                <a:solidFill>
                  <a:srgbClr val="EFE6D6"/>
                </a:solidFill>
                <a:latin typeface="Calibri"/>
                <a:ea typeface="Calibri"/>
                <a:cs typeface="Calibri"/>
              </a:rPr>
              <a:t>•  Temporal + cosine &gt; 0.62</a:t>
            </a:r>
          </a:p>
          <a:p>
            <a:pPr>
              <a:spcAft>
                <a:spcPts val="800"/>
              </a:spcAft>
            </a:pPr>
            <a:r>
              <a:rPr sz="1500" b="0">
                <a:solidFill>
                  <a:srgbClr val="EFE6D6"/>
                </a:solidFill>
                <a:latin typeface="Calibri"/>
                <a:ea typeface="Calibri"/>
                <a:cs typeface="Calibri"/>
              </a:rPr>
              <a:t>•  Self-loops kept</a:t>
            </a:r>
          </a:p>
        </p:txBody>
      </p:sp>
      <p:sp>
        <p:nvSpPr>
          <p:cNvPr id="9" name="Rounded Rectangle 8"/>
          <p:cNvSpPr/>
          <p:nvPr/>
        </p:nvSpPr>
        <p:spPr>
          <a:xfrm>
            <a:off x="6195060" y="1965960"/>
            <a:ext cx="549097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6228" y="2130552"/>
            <a:ext cx="5125212" cy="457200"/>
          </a:xfrm>
          <a:prstGeom prst="rect">
            <a:avLst/>
          </a:prstGeom>
          <a:noFill/>
        </p:spPr>
        <p:txBody>
          <a:bodyPr wrap="square">
            <a:spAutoFit/>
          </a:bodyPr>
          <a:lstStyle/>
          <a:p>
            <a:pPr algn="l"/>
            <a:r>
              <a:rPr sz="1600" b="1">
                <a:solidFill>
                  <a:srgbClr val="C45C26"/>
                </a:solidFill>
                <a:latin typeface="Georgia"/>
                <a:ea typeface="Georgia"/>
                <a:cs typeface="Georgia"/>
              </a:rPr>
              <a:t>Chord graph</a:t>
            </a:r>
          </a:p>
        </p:txBody>
      </p:sp>
      <p:sp>
        <p:nvSpPr>
          <p:cNvPr id="11" name="TextBox 10"/>
          <p:cNvSpPr txBox="1"/>
          <p:nvPr/>
        </p:nvSpPr>
        <p:spPr>
          <a:xfrm>
            <a:off x="6396228" y="2624328"/>
            <a:ext cx="512521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24 maj / min templates</a:t>
            </a:r>
          </a:p>
          <a:p>
            <a:pPr>
              <a:spcAft>
                <a:spcPts val="800"/>
              </a:spcAft>
            </a:pPr>
            <a:r>
              <a:rPr sz="1500" b="0">
                <a:solidFill>
                  <a:srgbClr val="EFE6D6"/>
                </a:solidFill>
                <a:latin typeface="Calibri"/>
                <a:ea typeface="Calibri"/>
                <a:cs typeface="Calibri"/>
              </a:rPr>
              <a:t>•  Collapse consecutive ids</a:t>
            </a:r>
          </a:p>
          <a:p>
            <a:pPr>
              <a:spcAft>
                <a:spcPts val="800"/>
              </a:spcAft>
            </a:pPr>
            <a:r>
              <a:rPr sz="1500" b="0">
                <a:solidFill>
                  <a:srgbClr val="EFE6D6"/>
                </a:solidFill>
                <a:latin typeface="Calibri"/>
                <a:ea typeface="Calibri"/>
                <a:cs typeface="Calibri"/>
              </a:rPr>
              <a:t>•  Edges = transition counts</a:t>
            </a:r>
          </a:p>
          <a:p>
            <a:pPr>
              <a:spcAft>
                <a:spcPts val="800"/>
              </a:spcAft>
            </a:pPr>
            <a:r>
              <a:rPr sz="1500" b="0">
                <a:solidFill>
                  <a:srgbClr val="EFE6D6"/>
                </a:solidFill>
                <a:latin typeface="Calibri"/>
                <a:ea typeface="Calibri"/>
                <a:cs typeface="Calibri"/>
              </a:rPr>
              <a:t>•  Mean N ~ 8.3</a:t>
            </a:r>
          </a:p>
        </p:txBody>
      </p:sp>
      <p:sp>
        <p:nvSpPr>
          <p:cNvPr id="12" name="TextBox 11"/>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Dense batched GraphSAGE / GAT. No PyTorch Geometric.</a:t>
            </a:r>
          </a:p>
        </p:txBody>
      </p:sp>
      <p:sp>
        <p:nvSpPr>
          <p:cNvPr id="13" name="TextBox 12"/>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TASKS 1-2</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TinyBERT from scratch, GraphSAGE vs a mel CNN</a:t>
            </a:r>
          </a:p>
        </p:txBody>
      </p:sp>
      <p:sp>
        <p:nvSpPr>
          <p:cNvPr id="6" name="TextBox 5"/>
          <p:cNvSpPr txBox="1"/>
          <p:nvPr/>
        </p:nvSpPr>
        <p:spPr>
          <a:xfrm>
            <a:off x="640080" y="2011680"/>
            <a:ext cx="10972800" cy="4297680"/>
          </a:xfrm>
          <a:prstGeom prst="rect">
            <a:avLst/>
          </a:prstGeom>
          <a:noFill/>
        </p:spPr>
        <p:txBody>
          <a:bodyPr wrap="square">
            <a:spAutoFit/>
          </a:bodyPr>
          <a:lstStyle/>
          <a:p>
            <a:pPr>
              <a:spcAft>
                <a:spcPts val="1600"/>
              </a:spcAft>
            </a:pPr>
            <a:r>
              <a:rPr sz="2200" b="0">
                <a:solidFill>
                  <a:srgbClr val="EFE6D6"/>
                </a:solidFill>
                <a:latin typeface="Calibri"/>
                <a:ea typeface="Calibri"/>
                <a:cs typeface="Calibri"/>
              </a:rPr>
              <a:t>▸  TinyBERT: 2 layers, d = 64, 4 heads, dropout 0.15, L = 48</a:t>
            </a:r>
          </a:p>
          <a:p>
            <a:pPr>
              <a:spcAft>
                <a:spcPts val="1600"/>
              </a:spcAft>
            </a:pPr>
            <a:r>
              <a:rPr sz="2200" b="0">
                <a:solidFill>
                  <a:srgbClr val="EFE6D6"/>
                </a:solidFill>
                <a:latin typeface="Calibri"/>
                <a:ea typeface="Calibri"/>
                <a:cs typeface="Calibri"/>
              </a:rPr>
              <a:t>▸  GraphSAGE: 2 layers, mean pool; GAT optional (2 heads, leaky 0.2)</a:t>
            </a:r>
          </a:p>
          <a:p>
            <a:pPr>
              <a:spcAft>
                <a:spcPts val="1600"/>
              </a:spcAft>
            </a:pPr>
            <a:r>
              <a:rPr sz="2200" b="0">
                <a:solidFill>
                  <a:srgbClr val="EFE6D6"/>
                </a:solidFill>
                <a:latin typeface="Calibri"/>
                <a:ea typeface="Calibri"/>
                <a:cs typeface="Calibri"/>
              </a:rPr>
              <a:t>▸  CNN: 16-32-64 channels on 64 x 32 log-mel</a:t>
            </a:r>
          </a:p>
          <a:p>
            <a:pPr>
              <a:spcAft>
                <a:spcPts val="1600"/>
              </a:spcAft>
            </a:pPr>
            <a:r>
              <a:rPr sz="2200" b="0">
                <a:solidFill>
                  <a:srgbClr val="EFE6D6"/>
                </a:solidFill>
                <a:latin typeface="Calibri"/>
                <a:ea typeface="Calibri"/>
                <a:cs typeface="Calibri"/>
              </a:rPr>
              <a:t>▸  AdamW 1.5e-3, batch 16, CPU, seed 42</a:t>
            </a:r>
          </a:p>
        </p:txBody>
      </p:sp>
      <p:sp>
        <p:nvSpPr>
          <p:cNvPr id="7" name="TextBox 6"/>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8" name="TextBox 7"/>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TASKS 3-4</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Fuse g with the caption, then align two towers</a:t>
            </a:r>
          </a:p>
        </p:txBody>
      </p:sp>
      <p:sp>
        <p:nvSpPr>
          <p:cNvPr id="6" name="Rounded Rectangle 5"/>
          <p:cNvSpPr/>
          <p:nvPr/>
        </p:nvSpPr>
        <p:spPr>
          <a:xfrm>
            <a:off x="502920" y="1965960"/>
            <a:ext cx="549097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130552"/>
            <a:ext cx="5125212" cy="457200"/>
          </a:xfrm>
          <a:prstGeom prst="rect">
            <a:avLst/>
          </a:prstGeom>
          <a:noFill/>
        </p:spPr>
        <p:txBody>
          <a:bodyPr wrap="square">
            <a:spAutoFit/>
          </a:bodyPr>
          <a:lstStyle/>
          <a:p>
            <a:pPr algn="l"/>
            <a:r>
              <a:rPr sz="1600" b="1">
                <a:solidFill>
                  <a:srgbClr val="C45C26"/>
                </a:solidFill>
                <a:latin typeface="Georgia"/>
                <a:ea typeface="Georgia"/>
                <a:cs typeface="Georgia"/>
              </a:rPr>
              <a:t>Fusion</a:t>
            </a:r>
          </a:p>
        </p:txBody>
      </p:sp>
      <p:sp>
        <p:nvSpPr>
          <p:cNvPr id="8" name="TextBox 7"/>
          <p:cNvSpPr txBox="1"/>
          <p:nvPr/>
        </p:nvSpPr>
        <p:spPr>
          <a:xfrm>
            <a:off x="704088" y="2624328"/>
            <a:ext cx="512521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Q = g W_Q, K,V from tokens</a:t>
            </a:r>
          </a:p>
          <a:p>
            <a:pPr>
              <a:spcAft>
                <a:spcPts val="800"/>
              </a:spcAft>
            </a:pPr>
            <a:r>
              <a:rPr sz="1500" b="0">
                <a:solidFill>
                  <a:srgbClr val="EFE6D6"/>
                </a:solidFill>
                <a:latin typeface="Calibri"/>
                <a:ea typeface="Calibri"/>
                <a:cs typeface="Calibri"/>
              </a:rPr>
              <a:t>•  Concat ablation: [g ; CLS]</a:t>
            </a:r>
          </a:p>
          <a:p>
            <a:pPr>
              <a:spcAft>
                <a:spcPts val="800"/>
              </a:spcAft>
            </a:pPr>
            <a:r>
              <a:rPr sz="1500" b="0">
                <a:solidFill>
                  <a:srgbClr val="EFE6D6"/>
                </a:solidFill>
                <a:latin typeface="Calibri"/>
                <a:ea typeface="Calibri"/>
                <a:cs typeface="Calibri"/>
              </a:rPr>
              <a:t>•  L = BCE + 0.35 VA L2</a:t>
            </a:r>
          </a:p>
        </p:txBody>
      </p:sp>
      <p:sp>
        <p:nvSpPr>
          <p:cNvPr id="9" name="Rounded Rectangle 8"/>
          <p:cNvSpPr/>
          <p:nvPr/>
        </p:nvSpPr>
        <p:spPr>
          <a:xfrm>
            <a:off x="6195060" y="1965960"/>
            <a:ext cx="549097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96228" y="2130552"/>
            <a:ext cx="5125212" cy="457200"/>
          </a:xfrm>
          <a:prstGeom prst="rect">
            <a:avLst/>
          </a:prstGeom>
          <a:noFill/>
        </p:spPr>
        <p:txBody>
          <a:bodyPr wrap="square">
            <a:spAutoFit/>
          </a:bodyPr>
          <a:lstStyle/>
          <a:p>
            <a:pPr algn="l"/>
            <a:r>
              <a:rPr sz="1600" b="1">
                <a:solidFill>
                  <a:srgbClr val="C45C26"/>
                </a:solidFill>
                <a:latin typeface="Georgia"/>
                <a:ea typeface="Georgia"/>
                <a:cs typeface="Georgia"/>
              </a:rPr>
              <a:t>InfoNCE</a:t>
            </a:r>
          </a:p>
        </p:txBody>
      </p:sp>
      <p:sp>
        <p:nvSpPr>
          <p:cNvPr id="11" name="TextBox 10"/>
          <p:cNvSpPr txBox="1"/>
          <p:nvPr/>
        </p:nvSpPr>
        <p:spPr>
          <a:xfrm>
            <a:off x="6396228" y="2624328"/>
            <a:ext cx="512521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Two 64-d spheres</a:t>
            </a:r>
          </a:p>
          <a:p>
            <a:pPr>
              <a:spcAft>
                <a:spcPts val="800"/>
              </a:spcAft>
            </a:pPr>
            <a:r>
              <a:rPr sz="1500" b="0">
                <a:solidFill>
                  <a:srgbClr val="EFE6D6"/>
                </a:solidFill>
                <a:latin typeface="Calibri"/>
                <a:ea typeface="Calibri"/>
                <a:cs typeface="Calibri"/>
              </a:rPr>
              <a:t>•  Symmetric batch loss</a:t>
            </a:r>
          </a:p>
          <a:p>
            <a:pPr>
              <a:spcAft>
                <a:spcPts val="800"/>
              </a:spcAft>
            </a:pPr>
            <a:r>
              <a:rPr sz="1500" b="0">
                <a:solidFill>
                  <a:srgbClr val="EFE6D6"/>
                </a:solidFill>
                <a:latin typeface="Calibri"/>
                <a:ea typeface="Calibri"/>
                <a:cs typeface="Calibri"/>
              </a:rPr>
              <a:t>•  R@K both directions</a:t>
            </a:r>
          </a:p>
        </p:txBody>
      </p:sp>
      <p:sp>
        <p:nvSpPr>
          <p:cNvPr id="12" name="TextBox 11"/>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13" name="TextBox 12"/>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HELD-OUT  |  N = 90</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Text towers dominate tags; audio-only F1 is the honest number</a:t>
            </a:r>
          </a:p>
        </p:txBody>
      </p:sp>
      <p:sp>
        <p:nvSpPr>
          <p:cNvPr id="6" name="Rounded Rectangle 5"/>
          <p:cNvSpPr/>
          <p:nvPr/>
        </p:nvSpPr>
        <p:spPr>
          <a:xfrm>
            <a:off x="50292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CONCAT F1</a:t>
            </a:r>
          </a:p>
        </p:txBody>
      </p:sp>
      <p:sp>
        <p:nvSpPr>
          <p:cNvPr id="8" name="TextBox 7"/>
          <p:cNvSpPr txBox="1"/>
          <p:nvPr/>
        </p:nvSpPr>
        <p:spPr>
          <a:xfrm>
            <a:off x="66751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0.783</a:t>
            </a:r>
          </a:p>
        </p:txBody>
      </p:sp>
      <p:sp>
        <p:nvSpPr>
          <p:cNvPr id="9" name="TextBox 8"/>
          <p:cNvSpPr txBox="1"/>
          <p:nvPr/>
        </p:nvSpPr>
        <p:spPr>
          <a:xfrm>
            <a:off x="66751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best tagger</a:t>
            </a:r>
          </a:p>
        </p:txBody>
      </p:sp>
      <p:sp>
        <p:nvSpPr>
          <p:cNvPr id="10" name="Rounded Rectangle 9"/>
          <p:cNvSpPr/>
          <p:nvPr/>
        </p:nvSpPr>
        <p:spPr>
          <a:xfrm>
            <a:off x="334899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358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BERT F1</a:t>
            </a:r>
          </a:p>
        </p:txBody>
      </p:sp>
      <p:sp>
        <p:nvSpPr>
          <p:cNvPr id="12" name="TextBox 11"/>
          <p:cNvSpPr txBox="1"/>
          <p:nvPr/>
        </p:nvSpPr>
        <p:spPr>
          <a:xfrm>
            <a:off x="351358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0.772</a:t>
            </a:r>
          </a:p>
        </p:txBody>
      </p:sp>
      <p:sp>
        <p:nvSpPr>
          <p:cNvPr id="13" name="TextBox 12"/>
          <p:cNvSpPr txBox="1"/>
          <p:nvPr/>
        </p:nvSpPr>
        <p:spPr>
          <a:xfrm>
            <a:off x="351358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caption only</a:t>
            </a:r>
          </a:p>
        </p:txBody>
      </p:sp>
      <p:sp>
        <p:nvSpPr>
          <p:cNvPr id="14" name="Rounded Rectangle 13"/>
          <p:cNvSpPr/>
          <p:nvPr/>
        </p:nvSpPr>
        <p:spPr>
          <a:xfrm>
            <a:off x="619506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GNN / CNN F1</a:t>
            </a:r>
          </a:p>
        </p:txBody>
      </p:sp>
      <p:sp>
        <p:nvSpPr>
          <p:cNvPr id="16" name="TextBox 15"/>
          <p:cNvSpPr txBox="1"/>
          <p:nvPr/>
        </p:nvSpPr>
        <p:spPr>
          <a:xfrm>
            <a:off x="635965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0.26</a:t>
            </a:r>
          </a:p>
        </p:txBody>
      </p:sp>
      <p:sp>
        <p:nvSpPr>
          <p:cNvPr id="17" name="TextBox 16"/>
          <p:cNvSpPr txBox="1"/>
          <p:nvPr/>
        </p:nvSpPr>
        <p:spPr>
          <a:xfrm>
            <a:off x="635965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audio only</a:t>
            </a:r>
          </a:p>
        </p:txBody>
      </p:sp>
      <p:sp>
        <p:nvSpPr>
          <p:cNvPr id="18" name="Rounded Rectangle 17"/>
          <p:cNvSpPr/>
          <p:nvPr/>
        </p:nvSpPr>
        <p:spPr>
          <a:xfrm>
            <a:off x="9041130" y="2011680"/>
            <a:ext cx="2644902" cy="23317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05722" y="2212848"/>
            <a:ext cx="2315718" cy="320040"/>
          </a:xfrm>
          <a:prstGeom prst="rect">
            <a:avLst/>
          </a:prstGeom>
          <a:noFill/>
        </p:spPr>
        <p:txBody>
          <a:bodyPr wrap="square">
            <a:spAutoFit/>
          </a:bodyPr>
          <a:lstStyle/>
          <a:p>
            <a:pPr algn="l"/>
            <a:r>
              <a:rPr sz="1200" b="1">
                <a:solidFill>
                  <a:srgbClr val="B7AA98"/>
                </a:solidFill>
                <a:latin typeface="Calibri"/>
                <a:ea typeface="Calibri"/>
                <a:cs typeface="Calibri"/>
              </a:rPr>
              <a:t>C TO A R@5</a:t>
            </a:r>
          </a:p>
        </p:txBody>
      </p:sp>
      <p:sp>
        <p:nvSpPr>
          <p:cNvPr id="20" name="TextBox 19"/>
          <p:cNvSpPr txBox="1"/>
          <p:nvPr/>
        </p:nvSpPr>
        <p:spPr>
          <a:xfrm>
            <a:off x="9205722" y="2651760"/>
            <a:ext cx="2315718" cy="960120"/>
          </a:xfrm>
          <a:prstGeom prst="rect">
            <a:avLst/>
          </a:prstGeom>
          <a:noFill/>
        </p:spPr>
        <p:txBody>
          <a:bodyPr wrap="square">
            <a:spAutoFit/>
          </a:bodyPr>
          <a:lstStyle/>
          <a:p>
            <a:pPr algn="l"/>
            <a:r>
              <a:rPr sz="3600" b="1">
                <a:solidFill>
                  <a:srgbClr val="C45C26"/>
                </a:solidFill>
                <a:latin typeface="Georgia"/>
                <a:ea typeface="Georgia"/>
                <a:cs typeface="Georgia"/>
              </a:rPr>
              <a:t>0.078</a:t>
            </a:r>
          </a:p>
        </p:txBody>
      </p:sp>
      <p:sp>
        <p:nvSpPr>
          <p:cNvPr id="21" name="TextBox 20"/>
          <p:cNvSpPr txBox="1"/>
          <p:nvPr/>
        </p:nvSpPr>
        <p:spPr>
          <a:xfrm>
            <a:off x="9205722" y="3749040"/>
            <a:ext cx="2315718" cy="365760"/>
          </a:xfrm>
          <a:prstGeom prst="rect">
            <a:avLst/>
          </a:prstGeom>
          <a:noFill/>
        </p:spPr>
        <p:txBody>
          <a:bodyPr wrap="square">
            <a:spAutoFit/>
          </a:bodyPr>
          <a:lstStyle/>
          <a:p>
            <a:pPr algn="l"/>
            <a:r>
              <a:rPr sz="1300" b="0">
                <a:solidFill>
                  <a:srgbClr val="B7AA98"/>
                </a:solidFill>
                <a:latin typeface="Calibri"/>
                <a:ea typeface="Calibri"/>
                <a:cs typeface="Calibri"/>
              </a:rPr>
              <a:t>chance 0.056</a:t>
            </a:r>
          </a:p>
        </p:txBody>
      </p:sp>
      <p:sp>
        <p:nvSpPr>
          <p:cNvPr id="22" name="TextBox 21"/>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AUC-PR concat 0.868  |  genre CNN 0.489 vs GNN 0.422  |  VA MAE 0.037 (priors, not DEAM).</a:t>
            </a:r>
          </a:p>
        </p:txBody>
      </p:sp>
      <p:sp>
        <p:nvSpPr>
          <p:cNvPr id="23" name="TextBox 22"/>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READING THE TABLE</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BERT is decoding a template we wrote</a:t>
            </a:r>
          </a:p>
        </p:txBody>
      </p:sp>
      <p:sp>
        <p:nvSpPr>
          <p:cNvPr id="6" name="TextBox 5"/>
          <p:cNvSpPr txBox="1"/>
          <p:nvPr/>
        </p:nvSpPr>
        <p:spPr>
          <a:xfrm>
            <a:off x="640080" y="2011680"/>
            <a:ext cx="10972800" cy="4297680"/>
          </a:xfrm>
          <a:prstGeom prst="rect">
            <a:avLst/>
          </a:prstGeom>
          <a:noFill/>
        </p:spPr>
        <p:txBody>
          <a:bodyPr wrap="square">
            <a:spAutoFit/>
          </a:bodyPr>
          <a:lstStyle/>
          <a:p>
            <a:pPr>
              <a:spcAft>
                <a:spcPts val="1600"/>
              </a:spcAft>
            </a:pPr>
            <a:r>
              <a:rPr sz="2200" b="0">
                <a:solidFill>
                  <a:srgbClr val="EFE6D6"/>
                </a:solidFill>
                <a:latin typeface="Calibri"/>
                <a:ea typeface="Calibri"/>
                <a:cs typeface="Calibri"/>
              </a:rPr>
              <a:t>▸  Template leakage: tags come from caption metadata, so BERT / fusion F1 is inflated</a:t>
            </a:r>
          </a:p>
          <a:p>
            <a:pPr>
              <a:spcAft>
                <a:spcPts val="1600"/>
              </a:spcAft>
            </a:pPr>
            <a:r>
              <a:rPr sz="2200" b="0">
                <a:solidFill>
                  <a:srgbClr val="EFE6D6"/>
                </a:solidFill>
                <a:latin typeface="Calibri"/>
                <a:ea typeface="Calibri"/>
                <a:cs typeface="Calibri"/>
              </a:rPr>
              <a:t>▸  Audio-only ~0.26 F1 is the real FMA tagging difficulty here</a:t>
            </a:r>
          </a:p>
          <a:p>
            <a:pPr>
              <a:spcAft>
                <a:spcPts val="1600"/>
              </a:spcAft>
            </a:pPr>
            <a:r>
              <a:rPr sz="2200" b="0">
                <a:solidFill>
                  <a:srgbClr val="EFE6D6"/>
                </a:solidFill>
                <a:latin typeface="Calibri"/>
                <a:ea typeface="Calibri"/>
                <a:cs typeface="Calibri"/>
              </a:rPr>
              <a:t>▸  VA MAE 0.037 recovers genre priors, not listener ratings</a:t>
            </a:r>
          </a:p>
          <a:p>
            <a:pPr>
              <a:spcAft>
                <a:spcPts val="1600"/>
              </a:spcAft>
            </a:pPr>
            <a:r>
              <a:rPr sz="2200" b="0">
                <a:solidFill>
                  <a:srgbClr val="EFE6D6"/>
                </a:solidFill>
                <a:latin typeface="Calibri"/>
                <a:ea typeface="Calibri"/>
                <a:cs typeface="Calibri"/>
              </a:rPr>
              <a:t>▸  FMA captions are stereotyped, so InfoNCE cannot identify the pair</a:t>
            </a:r>
          </a:p>
        </p:txBody>
      </p:sp>
      <p:sp>
        <p:nvSpPr>
          <p:cNvPr id="7" name="TextBox 6"/>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8" name="TextBox 7"/>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ERROR ANALYSIS</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Genre collapse: electronic and hip-hop fall into folk</a:t>
            </a:r>
          </a:p>
        </p:txBody>
      </p:sp>
      <p:sp>
        <p:nvSpPr>
          <p:cNvPr id="6" name="Rounded Rectangle 5"/>
          <p:cNvSpPr/>
          <p:nvPr/>
        </p:nvSpPr>
        <p:spPr>
          <a:xfrm>
            <a:off x="50292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408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000620 Arabesque</a:t>
            </a:r>
          </a:p>
        </p:txBody>
      </p:sp>
      <p:sp>
        <p:nvSpPr>
          <p:cNvPr id="8" name="TextBox 7"/>
          <p:cNvSpPr txBox="1"/>
          <p:nvPr/>
        </p:nvSpPr>
        <p:spPr>
          <a:xfrm>
            <a:off x="70408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Caption: folk, Ed Askew</a:t>
            </a:r>
          </a:p>
          <a:p>
            <a:pPr>
              <a:spcAft>
                <a:spcPts val="800"/>
              </a:spcAft>
            </a:pPr>
            <a:r>
              <a:rPr sz="1500" b="0">
                <a:solidFill>
                  <a:srgbClr val="EFE6D6"/>
                </a:solidFill>
                <a:latin typeface="Calibri"/>
                <a:ea typeface="Calibri"/>
                <a:cs typeface="Calibri"/>
              </a:rPr>
              <a:t>•  Tags: copied</a:t>
            </a:r>
          </a:p>
          <a:p>
            <a:pPr>
              <a:spcAft>
                <a:spcPts val="800"/>
              </a:spcAft>
            </a:pPr>
            <a:r>
              <a:rPr sz="1500" b="0">
                <a:solidFill>
                  <a:srgbClr val="EFE6D6"/>
                </a:solidFill>
                <a:latin typeface="Calibri"/>
                <a:ea typeface="Calibri"/>
                <a:cs typeface="Calibri"/>
              </a:rPr>
              <a:t>•  Genre: folk to folk</a:t>
            </a:r>
          </a:p>
        </p:txBody>
      </p:sp>
      <p:sp>
        <p:nvSpPr>
          <p:cNvPr id="9" name="Rounded Rectangle 8"/>
          <p:cNvSpPr/>
          <p:nvPr/>
        </p:nvSpPr>
        <p:spPr>
          <a:xfrm>
            <a:off x="429768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9884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007373 heartbreaker</a:t>
            </a:r>
          </a:p>
        </p:txBody>
      </p:sp>
      <p:sp>
        <p:nvSpPr>
          <p:cNvPr id="11" name="TextBox 10"/>
          <p:cNvSpPr txBox="1"/>
          <p:nvPr/>
        </p:nvSpPr>
        <p:spPr>
          <a:xfrm>
            <a:off x="449884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Caption: electronic</a:t>
            </a:r>
          </a:p>
          <a:p>
            <a:pPr>
              <a:spcAft>
                <a:spcPts val="800"/>
              </a:spcAft>
            </a:pPr>
            <a:r>
              <a:rPr sz="1500" b="0">
                <a:solidFill>
                  <a:srgbClr val="EFE6D6"/>
                </a:solidFill>
                <a:latin typeface="Calibri"/>
                <a:ea typeface="Calibri"/>
                <a:cs typeface="Calibri"/>
              </a:rPr>
              <a:t>•  Tags: drops dark</a:t>
            </a:r>
          </a:p>
          <a:p>
            <a:pPr>
              <a:spcAft>
                <a:spcPts val="800"/>
              </a:spcAft>
            </a:pPr>
            <a:r>
              <a:rPr sz="1500" b="0">
                <a:solidFill>
                  <a:srgbClr val="EFE6D6"/>
                </a:solidFill>
                <a:latin typeface="Calibri"/>
                <a:ea typeface="Calibri"/>
                <a:cs typeface="Calibri"/>
              </a:rPr>
              <a:t>•  Genre: elec. to folk</a:t>
            </a:r>
          </a:p>
        </p:txBody>
      </p:sp>
      <p:sp>
        <p:nvSpPr>
          <p:cNvPr id="12" name="Rounded Rectangle 11"/>
          <p:cNvSpPr/>
          <p:nvPr/>
        </p:nvSpPr>
        <p:spPr>
          <a:xfrm>
            <a:off x="8092440" y="1965960"/>
            <a:ext cx="3593592" cy="4160520"/>
          </a:xfrm>
          <a:prstGeom prst="roundRect">
            <a:avLst>
              <a:gd name="adj" fmla="val 8000"/>
            </a:avLst>
          </a:prstGeom>
          <a:solidFill>
            <a:srgbClr val="171410"/>
          </a:solidFill>
          <a:ln w="12700">
            <a:solidFill>
              <a:srgbClr val="3A32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93608" y="2130552"/>
            <a:ext cx="3227832" cy="457200"/>
          </a:xfrm>
          <a:prstGeom prst="rect">
            <a:avLst/>
          </a:prstGeom>
          <a:noFill/>
        </p:spPr>
        <p:txBody>
          <a:bodyPr wrap="square">
            <a:spAutoFit/>
          </a:bodyPr>
          <a:lstStyle/>
          <a:p>
            <a:pPr algn="l"/>
            <a:r>
              <a:rPr sz="1600" b="1">
                <a:solidFill>
                  <a:srgbClr val="C45C26"/>
                </a:solidFill>
                <a:latin typeface="Georgia"/>
                <a:ea typeface="Georgia"/>
                <a:cs typeface="Georgia"/>
              </a:rPr>
              <a:t>013749 110% edit</a:t>
            </a:r>
          </a:p>
        </p:txBody>
      </p:sp>
      <p:sp>
        <p:nvSpPr>
          <p:cNvPr id="14" name="TextBox 13"/>
          <p:cNvSpPr txBox="1"/>
          <p:nvPr/>
        </p:nvSpPr>
        <p:spPr>
          <a:xfrm>
            <a:off x="8293608" y="2624328"/>
            <a:ext cx="3227832" cy="3337560"/>
          </a:xfrm>
          <a:prstGeom prst="rect">
            <a:avLst/>
          </a:prstGeom>
          <a:noFill/>
        </p:spPr>
        <p:txBody>
          <a:bodyPr wrap="square">
            <a:spAutoFit/>
          </a:bodyPr>
          <a:lstStyle/>
          <a:p>
            <a:pPr>
              <a:spcAft>
                <a:spcPts val="800"/>
              </a:spcAft>
            </a:pPr>
            <a:r>
              <a:rPr sz="1500" b="0">
                <a:solidFill>
                  <a:srgbClr val="EFE6D6"/>
                </a:solidFill>
                <a:latin typeface="Calibri"/>
                <a:ea typeface="Calibri"/>
                <a:cs typeface="Calibri"/>
              </a:rPr>
              <a:t>•  Caption: hip-hop, Laws</a:t>
            </a:r>
          </a:p>
          <a:p>
            <a:pPr>
              <a:spcAft>
                <a:spcPts val="800"/>
              </a:spcAft>
            </a:pPr>
            <a:r>
              <a:rPr sz="1500" b="0">
                <a:solidFill>
                  <a:srgbClr val="EFE6D6"/>
                </a:solidFill>
                <a:latin typeface="Calibri"/>
                <a:ea typeface="Calibri"/>
                <a:cs typeface="Calibri"/>
              </a:rPr>
              <a:t>•  Tags: copied</a:t>
            </a:r>
          </a:p>
          <a:p>
            <a:pPr>
              <a:spcAft>
                <a:spcPts val="800"/>
              </a:spcAft>
            </a:pPr>
            <a:r>
              <a:rPr sz="1500" b="0">
                <a:solidFill>
                  <a:srgbClr val="EFE6D6"/>
                </a:solidFill>
                <a:latin typeface="Calibri"/>
                <a:ea typeface="Calibri"/>
                <a:cs typeface="Calibri"/>
              </a:rPr>
              <a:t>•  Genre: hip-hop to folk</a:t>
            </a:r>
          </a:p>
        </p:txBody>
      </p:sp>
      <p:sp>
        <p:nvSpPr>
          <p:cNvPr id="15" name="TextBox 14"/>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Cadence Lab</a:t>
            </a:r>
          </a:p>
        </p:txBody>
      </p:sp>
      <p:sp>
        <p:nvSpPr>
          <p:cNvPr id="16" name="TextBox 15"/>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8" cy="6858000"/>
          </a:xfrm>
          <a:prstGeom prst="rect">
            <a:avLst/>
          </a:prstGeom>
          <a:solidFill>
            <a:srgbClr val="C45C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56032"/>
            <a:ext cx="11155680" cy="292608"/>
          </a:xfrm>
          <a:prstGeom prst="rect">
            <a:avLst/>
          </a:prstGeom>
          <a:noFill/>
        </p:spPr>
        <p:txBody>
          <a:bodyPr wrap="square">
            <a:spAutoFit/>
          </a:bodyPr>
          <a:lstStyle/>
          <a:p>
            <a:pPr algn="l"/>
            <a:r>
              <a:rPr sz="1200" b="1">
                <a:solidFill>
                  <a:srgbClr val="C45C26"/>
                </a:solidFill>
                <a:latin typeface="Calibri"/>
                <a:ea typeface="Calibri"/>
                <a:cs typeface="Calibri"/>
              </a:rPr>
              <a:t>TAKEAWAYS</a:t>
            </a:r>
          </a:p>
        </p:txBody>
      </p:sp>
      <p:sp>
        <p:nvSpPr>
          <p:cNvPr id="5" name="TextBox 4"/>
          <p:cNvSpPr txBox="1"/>
          <p:nvPr/>
        </p:nvSpPr>
        <p:spPr>
          <a:xfrm>
            <a:off x="502920" y="530352"/>
            <a:ext cx="11155680" cy="1280160"/>
          </a:xfrm>
          <a:prstGeom prst="rect">
            <a:avLst/>
          </a:prstGeom>
          <a:noFill/>
        </p:spPr>
        <p:txBody>
          <a:bodyPr wrap="square">
            <a:spAutoFit/>
          </a:bodyPr>
          <a:lstStyle/>
          <a:p>
            <a:pPr algn="l"/>
            <a:r>
              <a:rPr sz="2600" b="1">
                <a:solidFill>
                  <a:srgbClr val="EFE6D6"/>
                </a:solidFill>
                <a:latin typeface="Georgia"/>
                <a:ea typeface="Georgia"/>
                <a:cs typeface="Georgia"/>
              </a:rPr>
              <a:t>Four tasks on real FMA audio, with the caveats attached</a:t>
            </a:r>
          </a:p>
        </p:txBody>
      </p:sp>
      <p:sp>
        <p:nvSpPr>
          <p:cNvPr id="6" name="TextBox 5"/>
          <p:cNvSpPr txBox="1"/>
          <p:nvPr/>
        </p:nvSpPr>
        <p:spPr>
          <a:xfrm>
            <a:off x="640080" y="2011680"/>
            <a:ext cx="10972800" cy="4297680"/>
          </a:xfrm>
          <a:prstGeom prst="rect">
            <a:avLst/>
          </a:prstGeom>
          <a:noFill/>
        </p:spPr>
        <p:txBody>
          <a:bodyPr wrap="square">
            <a:spAutoFit/>
          </a:bodyPr>
          <a:lstStyle/>
          <a:p>
            <a:pPr>
              <a:spcAft>
                <a:spcPts val="1600"/>
              </a:spcAft>
            </a:pPr>
            <a:r>
              <a:rPr sz="2200" b="0">
                <a:solidFill>
                  <a:srgbClr val="EFE6D6"/>
                </a:solidFill>
                <a:latin typeface="Calibri"/>
                <a:ea typeface="Calibri"/>
                <a:cs typeface="Calibri"/>
              </a:rPr>
              <a:t>▸  Concat fusion 0.783 F1 — on labels built from captions</a:t>
            </a:r>
          </a:p>
          <a:p>
            <a:pPr>
              <a:spcAft>
                <a:spcPts val="1600"/>
              </a:spcAft>
            </a:pPr>
            <a:r>
              <a:rPr sz="2200" b="0">
                <a:solidFill>
                  <a:srgbClr val="EFE6D6"/>
                </a:solidFill>
                <a:latin typeface="Calibri"/>
                <a:ea typeface="Calibri"/>
                <a:cs typeface="Calibri"/>
              </a:rPr>
              <a:t>▸  GNN 0.264 / CNN 0.255 — honest audio tagging</a:t>
            </a:r>
          </a:p>
          <a:p>
            <a:pPr>
              <a:spcAft>
                <a:spcPts val="1600"/>
              </a:spcAft>
            </a:pPr>
            <a:r>
              <a:rPr sz="2200" b="0">
                <a:solidFill>
                  <a:srgbClr val="EFE6D6"/>
                </a:solidFill>
                <a:latin typeface="Calibri"/>
                <a:ea typeface="Calibri"/>
                <a:cs typeface="Calibri"/>
              </a:rPr>
              <a:t>▸  R@5 0.078 vs chance 0.056 — report the miss</a:t>
            </a:r>
          </a:p>
          <a:p>
            <a:pPr>
              <a:spcAft>
                <a:spcPts val="1600"/>
              </a:spcAft>
            </a:pPr>
            <a:r>
              <a:rPr sz="2200" b="0">
                <a:solidFill>
                  <a:srgbClr val="EFE6D6"/>
                </a:solidFill>
                <a:latin typeface="Calibri"/>
                <a:ea typeface="Calibri"/>
                <a:cs typeface="Calibri"/>
              </a:rPr>
              <a:t>▸  Lab: graphs, metrics, live fusion, IEEE paper</a:t>
            </a:r>
          </a:p>
        </p:txBody>
      </p:sp>
      <p:sp>
        <p:nvSpPr>
          <p:cNvPr id="7" name="TextBox 6"/>
          <p:cNvSpPr txBox="1"/>
          <p:nvPr/>
        </p:nvSpPr>
        <p:spPr>
          <a:xfrm>
            <a:off x="502920" y="6565392"/>
            <a:ext cx="9326880" cy="256032"/>
          </a:xfrm>
          <a:prstGeom prst="rect">
            <a:avLst/>
          </a:prstGeom>
          <a:noFill/>
        </p:spPr>
        <p:txBody>
          <a:bodyPr wrap="square">
            <a:spAutoFit/>
          </a:bodyPr>
          <a:lstStyle/>
          <a:p>
            <a:pPr algn="l"/>
            <a:r>
              <a:rPr sz="1100" b="0">
                <a:solidFill>
                  <a:srgbClr val="B7AA98"/>
                </a:solidFill>
                <a:latin typeface="Calibri"/>
                <a:ea typeface="Calibri"/>
                <a:cs typeface="Calibri"/>
              </a:rPr>
              <a:t>Questions  |  report/final_report.pdf  |  Cadence Lab</a:t>
            </a:r>
          </a:p>
        </p:txBody>
      </p:sp>
      <p:sp>
        <p:nvSpPr>
          <p:cNvPr id="8" name="TextBox 7"/>
          <p:cNvSpPr txBox="1"/>
          <p:nvPr/>
        </p:nvSpPr>
        <p:spPr>
          <a:xfrm>
            <a:off x="10241280" y="6565392"/>
            <a:ext cx="1463040" cy="256032"/>
          </a:xfrm>
          <a:prstGeom prst="rect">
            <a:avLst/>
          </a:prstGeom>
          <a:noFill/>
        </p:spPr>
        <p:txBody>
          <a:bodyPr wrap="square">
            <a:spAutoFit/>
          </a:bodyPr>
          <a:lstStyle/>
          <a:p>
            <a:pPr algn="r"/>
            <a:r>
              <a:rPr sz="1100" b="0">
                <a:solidFill>
                  <a:srgbClr val="B7AA98"/>
                </a:solidFill>
                <a:latin typeface="Calibri"/>
                <a:ea typeface="Calibri"/>
                <a:cs typeface="Calibri"/>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